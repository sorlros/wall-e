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
<Relationships xmlns="http://schemas.openxmlformats.org/package/2006/relationships">
	<Relationship Id="rId1" Target="ppt/presentation.xml" Type="http://schemas.openxmlformats.org/officeDocument/2006/relationships/officeDocument" />
	<Relationship Id="rId2" Target="docProps/core.xml" Type="http://schemas.openxmlformats.org/package/2006/relationships/metadata/core-properties" />
	<Relationship Id="rId3" Target="docProps/app.xml" Type="http://schemas.openxmlformats.org/officeDocument/2006/relationships/extended-properties" />
	<Relationship Id="rId4" Target="docProps/thumbnail.jpeg" Type="http://schemas.openxmlformats.org/package/2006/relationships/metadata/thumbnail" 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gridSpacing cx="76200" cy="76200"/>
</p:viewPr>
</file>

<file path=ppt/_rels/presentation.xml.rels><?xml version="1.0" encoding="UTF-8" standalone="yes"?>
<Relationships xmlns="http://schemas.openxmlformats.org/package/2006/relationships">
	<Relationship Id="rId1" Target="slideMasters/slideMaster1.xml" Type="http://schemas.openxmlformats.org/officeDocument/2006/relationships/slideMaster" />
	<Relationship Id="rId2" Target="slides/slide1.xml" Type="http://schemas.openxmlformats.org/officeDocument/2006/relationships/slide" />
	<Relationship Id="rId3" Target="slides/slide2.xml" Type="http://schemas.openxmlformats.org/officeDocument/2006/relationships/slide" />
	<Relationship Id="rId4" Target="slides/slide3.xml" Type="http://schemas.openxmlformats.org/officeDocument/2006/relationships/slide" />
	<Relationship Id="rId5" Target="slides/slide4.xml" Type="http://schemas.openxmlformats.org/officeDocument/2006/relationships/slide" />
	<Relationship Id="rId6" Target="slides/slide5.xml" Type="http://schemas.openxmlformats.org/officeDocument/2006/relationships/slide" />
	<Relationship Id="rId7" Target="slides/slide6.xml" Type="http://schemas.openxmlformats.org/officeDocument/2006/relationships/slide" />
	<Relationship Id="rId8" Target="slides/slide7.xml" Type="http://schemas.openxmlformats.org/officeDocument/2006/relationships/slide" />
	<Relationship Id="rId9" Target="theme/theme1.xml" Type="http://schemas.openxmlformats.org/officeDocument/2006/relationships/theme" />
	<Relationship Id="rId10" Target="presProps.xml" Type="http://schemas.openxmlformats.org/officeDocument/2006/relationships/presProps" />
	<Relationship Id="rId11" Target="viewProps.xml" Type="http://schemas.openxmlformats.org/officeDocument/2006/relationships/viewProps" />
	<Relationship Id="rId12" Target="tableStyles.xml" Type="http://schemas.openxmlformats.org/officeDocument/2006/relationships/tableStyles" 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9A787-78FD-F961-1BBC-AC3559E05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3699FE-4AB2-E151-BEF1-1FAD0487F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420699-A2A4-C774-ACCA-27760ED5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6A2551-91DE-7425-3151-5AE24DC3E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B228D-EDB8-6B20-521E-F8DA95A3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42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FBDEE-033D-3AB4-20F4-4EE1CAC10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D9BD3B-42BC-2021-6D8B-50B1CE6DF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1B3899-6928-6D2D-AE82-848A276B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51D2B9-27F5-DC6A-CC14-8DB662D9C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68FD4B-5051-7008-815C-1D2165A1B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13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BF8C0C-836C-1503-0394-F6DB5D01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42D9C2-3CAA-EAFD-F8A4-756D10830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FC950B-D2F6-AFD3-5E7F-3BFD0D0F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62B94-F36E-6BE9-9948-CF7B65A6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0F8D59-E44A-3BE7-06B7-6CE7B929A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594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7C902-9AFB-2FA6-DDD0-6B7A83CFB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A8C2B3-0F7A-0C92-F375-35122CA1F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694788-9ED8-545F-9EB0-F6348FAB7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D8E94-11D2-5776-C2D2-0C8D5AA7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069526-E1BA-1ACA-3564-704A1464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E67443-5441-1AE8-8809-E347351D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50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E4039-6CBA-F260-8495-3B98A1F6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CB4831-6554-1A6C-4D17-291E79D3F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8BE9F3-1BC5-A9F1-9149-F2D7051F4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47EE99A-A793-B750-6DB8-279478EE6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2E2838-53A9-CC1A-F56D-2C2BE72D5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4CD815-F839-1AD5-A989-C904224C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AC846E-D80C-DDEF-7D3A-8ABFD0274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CC3925-3A80-B4EC-5EF4-C9D2EF98F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22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26897-8B9B-5F74-2233-7656650CB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BD2FA7-C532-D986-A69F-9B4164BB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C9DCF3-6012-533D-7830-7F9D6FF63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C7741D-2A3B-F571-85AF-EB092F55D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018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51E56B-4948-E338-75B0-1373B5B68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04A0B1-BD58-AC5A-09F0-7426B7F5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2865B9-E04E-B370-53FA-1B67A80E6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12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34F3B-81FA-19AA-10E9-183975B4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2AF872-5C9F-7D76-774E-7132CA903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0FB748-5ED6-09DF-81D9-901368E37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B6EBAD-112D-FFC3-34A1-DAC29DDA3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7B91F8-11DD-98D0-5EBD-58A2D639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1E071D-BD93-6A85-963C-1B335D48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726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A4F1C-BDB2-6162-62F2-318C36C83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66FAEB-BAB6-9026-6300-E2F857BAF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5E9B5-49D9-7C94-D159-280F3B4E1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C92B7A-3A9B-0335-3EEE-0BC0FE68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BA28A4-F9AC-5EC6-AC57-52150291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7A5D95-43D5-27C3-14D3-B70D0B536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155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B89EA-E173-9908-3603-17F62F94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38FF8C-07BD-1AC1-37F2-201CA768E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0B122-8C0F-CBB4-4120-981430F8C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B2C671-A270-28F6-0E8D-78B7B060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F35323-3294-3644-D37A-C9EF8DE4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713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850239-0923-BD52-DAAF-57394AD8C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7B1E64-8D89-ACD3-787E-0D5CFE4BC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BB6B5E-BE3E-41DD-0AA1-16B129E1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EBDA3B-1B03-5E37-1DFD-D7CF27773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382112-4405-03E0-07A2-87C776E7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84310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	<Relationship Id="rId2" Target="../slideLayouts/slideLayout2.xml" Type="http://schemas.openxmlformats.org/officeDocument/2006/relationships/slideLayout" />
	<Relationship Id="rId3" Target="../slideLayouts/slideLayout3.xml" Type="http://schemas.openxmlformats.org/officeDocument/2006/relationships/slideLayout" />
	<Relationship Id="rId4" Target="../slideLayouts/slideLayout4.xml" Type="http://schemas.openxmlformats.org/officeDocument/2006/relationships/slideLayout" />
	<Relationship Id="rId5" Target="../slideLayouts/slideLayout5.xml" Type="http://schemas.openxmlformats.org/officeDocument/2006/relationships/slideLayout" />
	<Relationship Id="rId6" Target="../slideLayouts/slideLayout6.xml" Type="http://schemas.openxmlformats.org/officeDocument/2006/relationships/slideLayout" />
	<Relationship Id="rId7" Target="../slideLayouts/slideLayout7.xml" Type="http://schemas.openxmlformats.org/officeDocument/2006/relationships/slideLayout" />
	<Relationship Id="rId8" Target="../slideLayouts/slideLayout8.xml" Type="http://schemas.openxmlformats.org/officeDocument/2006/relationships/slideLayout" />
	<Relationship Id="rId9" Target="../slideLayouts/slideLayout9.xml" Type="http://schemas.openxmlformats.org/officeDocument/2006/relationships/slideLayout" />
	<Relationship Id="rId10" Target="../slideLayouts/slideLayout10.xml" Type="http://schemas.openxmlformats.org/officeDocument/2006/relationships/slideLayout" />
	<Relationship Id="rId11" Target="../slideLayouts/slideLayout11.xml" Type="http://schemas.openxmlformats.org/officeDocument/2006/relationships/slideLayout" />
	<Relationship Id="rId12" Target="../theme/theme1.xml" Type="http://schemas.openxmlformats.org/officeDocument/2006/relationships/theme" 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BDD4C2-6D3B-EDFC-6D90-2068C9E0F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CF0374-A47A-3405-EA38-80C9723E906D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二级</a:t>
            </a:r>
          </a:p>
          <a:p>
            <a:pPr lvl="2"/>
            <a:r>
              <a:rPr altLang="en-US" lang="zh-CN"/>
              <a:t>三级</a:t>
            </a:r>
          </a:p>
          <a:p>
            <a:pPr lvl="3"/>
            <a:r>
              <a:rPr altLang="en-US" lang="zh-CN"/>
              <a:t>四级</a:t>
            </a:r>
          </a:p>
          <a:p>
            <a:pPr lvl="4"/>
            <a:r>
              <a:rPr altLang="en-US" lang="zh-CN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804790-E4F3-1E92-061F-6633B3E43D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92A8E-63A0-2D4E-A6A7-E203336472B5}" type="datetimeFigureOut">
              <a:rPr altLang="zh-CN" lang="en-US" smtClean="0"/>
              <a:t>02/24/26</a:t>
            </a:fld>
            <a:endParaRPr altLang="en-US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BCD22B-FCE2-876E-16AD-38ED213DDD28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9BCCD5-7D98-B7AC-92C8-2E2382B36A68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3F6E2-E1ED-A344-9FCB-7EC31DAB2D2B}" type="slidenum">
              <a:rPr altLang="zh-CN" lang="en-US" smtClean="0"/>
              <a:t>‹#›</a:t>
            </a:fld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234502134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ct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	<Relationship Id="rId1" Target="../media/image17718984731284458.png" Type="http://schemas.openxmlformats.org/officeDocument/2006/relationships/image" />
	<Relationship Id="rId2" Target="../media/image17718984731293252.jpeg" Type="http://schemas.openxmlformats.org/officeDocument/2006/relationships/image" />
	<Relationship Id="rId3" Target="../slideLayouts/slideLayout1.xml" Type="http://schemas.openxmlformats.org/officeDocument/2006/relationships/slideLayout" />
</Relationships>
</file>

<file path=ppt/slides/_rels/slide2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</Relationships>
</file>

<file path=ppt/slides/_rels/slide3.xml.rels><?xml version="1.0" encoding="UTF-8" standalone="yes"?>
<Relationships xmlns="http://schemas.openxmlformats.org/package/2006/relationships">
	<Relationship Id="rId1" Target="../media/image17718984731348553.png" Type="http://schemas.openxmlformats.org/officeDocument/2006/relationships/image" />
	<Relationship Id="rId2" Target="../media/image17718984731349298.png" Type="http://schemas.openxmlformats.org/officeDocument/2006/relationships/image" />
	<Relationship Id="rId3" Target="../media/image17718984731348990.png" Type="http://schemas.openxmlformats.org/officeDocument/2006/relationships/image" />
	<Relationship Id="rId4" Target="../slideLayouts/slideLayout1.xml" Type="http://schemas.openxmlformats.org/officeDocument/2006/relationships/slideLayout" />
</Relationships>
</file>

<file path=ppt/slides/_rels/slide4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</Relationships>
</file>

<file path=ppt/slides/_rels/slide5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</Relationships>
</file>

<file path=ppt/slides/_rels/slide6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</Relationships>
</file>

<file path=ppt/slides/_rels/slide7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3000">
                <a:latin charset="0" typeface="PingFang SC"/>
                <a:ea charset="0" typeface="PingFang SC"/>
                <a:solidFill>
                  <a:srgbClr val="000000"/>
                </a:solidFill>
              </a:rPr>
              <a:t>문제 제기 (The Problem) - 왜 드론인가</a:t>
            </a:r>
            <a:r>
              <a:rPr altLang="en-US" lang="zh-CN" spc="0" sz="3000">
                <a:latin charset="0" typeface="PingFang SC"/>
                <a:ea charset="0" typeface="PingFang SC"/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7200" y="3671888"/>
            <a:ext cx="8229600" cy="2454275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</a:p>
          <a:p>
            <a:pPr algn="l" lvl="0">
              <a:buNone/>
            </a:pPr>
            <a:r>
              <a:rPr altLang="en-US" lang="zh-CN" spc="0" sz="1500">
                <a:latin charset="0" typeface="PingFang SC"/>
                <a:ea charset="0" typeface="PingFang SC"/>
                <a:solidFill>
                  <a:srgbClr val="000000"/>
                </a:solidFill>
              </a:rPr>
              <a:t>핵심 메시지: 현행 인력 중심의 외벽 점검은 위험하고, 비싸며, 부정확합니다.</a:t>
            </a:r>
          </a:p>
          <a:p>
            <a:pPr algn="l" lvl="0">
              <a:buNone/>
            </a:pPr>
          </a:p>
          <a:p>
            <a:pPr algn="l" lvl="0">
              <a:buNone/>
            </a:pPr>
            <a:r>
              <a:rPr altLang="en-US" lang="zh-CN" spc="0" sz="1500">
                <a:latin charset="0" typeface="PingFang SC"/>
                <a:ea charset="0" typeface="PingFang SC"/>
                <a:solidFill>
                  <a:srgbClr val="000000"/>
                </a:solidFill>
              </a:rPr>
              <a:t>3대 Pain Points:</a:t>
            </a:r>
          </a:p>
          <a:p>
            <a:pPr algn="l" lvl="0">
              <a:buNone/>
            </a:pPr>
            <a:r>
              <a:rPr altLang="en-US" lang="zh-CN" spc="0" sz="1500">
                <a:latin charset="0" typeface="PingFang SC"/>
                <a:ea charset="0" typeface="PingFang SC"/>
                <a:solidFill>
                  <a:srgbClr val="000000"/>
                </a:solidFill>
              </a:rPr>
              <a:t>안전 (Safety): 고소 작업(비계, 곤돌라, 로프)으로 인한 추락 등 중대재해 리스크 지속</a:t>
            </a:r>
          </a:p>
          <a:p>
            <a:pPr algn="l" lvl="0">
              <a:buNone/>
            </a:pPr>
            <a:r>
              <a:rPr altLang="en-US" lang="zh-CN" spc="0" sz="1500">
                <a:latin charset="0" typeface="PingFang SC"/>
                <a:ea charset="0" typeface="PingFang SC"/>
                <a:solidFill>
                  <a:srgbClr val="000000"/>
                </a:solidFill>
              </a:rPr>
              <a:t>비용 &amp; 한계 (Cost &amp; Limit): 곤돌라/비계 설치에 막대한 비용(3천만~1억 원) 소요, 전수 점검 불가(샘플링 위주)</a:t>
            </a:r>
          </a:p>
          <a:p>
            <a:pPr algn="l" lvl="0">
              <a:buNone/>
            </a:pPr>
            <a:r>
              <a:rPr altLang="en-US" lang="zh-CN" spc="0" sz="1500">
                <a:latin charset="0" typeface="PingFang SC"/>
                <a:ea charset="0" typeface="PingFang SC"/>
                <a:solidFill>
                  <a:srgbClr val="000000"/>
                </a:solidFill>
              </a:rPr>
              <a:t>데이터 (Data): 수기 기록에 의존하여 추적 관리 및 정량화 불가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904875" y="1310495"/>
            <a:ext cx="2928937" cy="2286000"/>
          </a:xfrm>
          <a:prstGeom prst="rect">
            <a:avLst/>
          </a:prstGeom>
        </p:sp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4572000" y="1310495"/>
            <a:ext cx="3833812" cy="2286000"/>
          </a:xfrm>
          <a:prstGeom prst="rect">
            <a:avLst/>
          </a:prstGeom>
        </p:sp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3500">
                <a:latin charset="0" typeface="PingFang SC"/>
                <a:ea charset="0" typeface="PingFang SC"/>
                <a:solidFill>
                  <a:srgbClr val="000000"/>
                </a:solidFill>
              </a:rPr>
              <a:t>솔루션 (The Solution) - WALL-E의 제안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7200" y="1600200"/>
            <a:ext cx="8229600" cy="362108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</a:p>
          <a:p>
            <a:pPr algn="l" lvl="0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핵심 메시지: 드론 전수 촬영과 AI 분석을 결합한 End-to-End 파이프라인</a:t>
            </a:r>
          </a:p>
          <a:p>
            <a:pPr algn="l" lvl="0">
              <a:buNone/>
            </a:pPr>
          </a:p>
          <a:p>
            <a:pPr algn="l" lvl="0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프로세스:</a:t>
            </a:r>
          </a:p>
          <a:p>
            <a:pPr algn="l" lvl="0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드론 외벽 100% 전수 촬영</a:t>
            </a:r>
          </a:p>
          <a:p>
            <a:pPr algn="l" lvl="0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AI(YOLO11n) 결함 자동 분류 (균열/박리 등)</a:t>
            </a:r>
          </a:p>
          <a:p>
            <a:pPr algn="l" lvl="0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위험 구간 선별 및 디지털 리포트 생성</a:t>
            </a:r>
          </a:p>
          <a:p>
            <a:pPr algn="l" lvl="0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선별된 위험 구간만 최소 인력 투입하여 보수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3500">
                <a:latin charset="0" typeface="PingFang SC"/>
                <a:ea charset="0" typeface="PingFang SC"/>
                <a:solidFill>
                  <a:srgbClr val="000000"/>
                </a:solidFill>
              </a:rPr>
              <a:t>시장 기회 (Market Opportunity)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7200" y="3540918"/>
            <a:ext cx="8229600" cy="2585244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</a:p>
          <a:p>
            <a:pPr algn="l" lvl="0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법적/제도적 배경: 아파트 외벽은 「시설물의 안전 및 유지관리 특별법(시특법)」에 따라 약 5년 주기로 정기 점검이 필수 (균열, 박리 등 확인)</a:t>
            </a:r>
          </a:p>
          <a:p>
            <a:pPr algn="l" lvl="0">
              <a:buNone/>
            </a:pPr>
          </a:p>
          <a:p>
            <a:pPr algn="l" lvl="0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시장 및 인프라 환경: 글로벌 드론 시장 약 107조 원 규모로 성장 (2024년 기준), 국내 드론 조종 인력 64만 명 돌파 </a:t>
            </a:r>
          </a:p>
          <a:p>
            <a:pPr algn="l" lvl="1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👉 기술 도입의 완벽한 적기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6985162" y="1323578"/>
            <a:ext cx="1812450" cy="2217339"/>
          </a:xfrm>
          <a:prstGeom prst="rect">
            <a:avLst/>
          </a:prstGeom>
        </p:sp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4931918" y="1323578"/>
            <a:ext cx="1693325" cy="2259234"/>
          </a:xfrm>
          <a:prstGeom prst="rect">
            <a:avLst/>
          </a:prstGeom>
        </p:sp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738186" y="1344526"/>
            <a:ext cx="3833812" cy="2217339"/>
          </a:xfrm>
          <a:prstGeom prst="rect">
            <a:avLst/>
          </a:prstGeom>
        </p:sp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3500">
                <a:latin charset="0" typeface="PingFang SC"/>
                <a:ea charset="0" typeface="PingFang SC"/>
                <a:solidFill>
                  <a:srgbClr val="000000"/>
                </a:solidFill>
              </a:rPr>
              <a:t>타겟 시장 및 규모 (Target Market &amp; Size)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7666" y="1104679"/>
            <a:ext cx="8229600" cy="5629095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600">
                <a:latin charset="0" typeface="Helvetica"/>
                <a:ea charset="0" typeface="Helvetica"/>
                <a:solidFill>
                  <a:srgbClr val="000000"/>
                </a:solidFill>
              </a:rPr>
              <a:t/>
            </a:r>
          </a:p>
          <a:p>
            <a:pPr algn="l" lvl="0">
              <a:buNone/>
            </a:pP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타겟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고객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(Who pays?):</a:t>
            </a:r>
          </a:p>
          <a:p>
            <a:pPr algn="l" lvl="0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1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차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(B2B):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아파트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관리사무소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/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입주자대표회의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비용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절감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,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안전사고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방지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,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민원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대응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</a:t>
            </a:r>
          </a:p>
          <a:p>
            <a:pPr algn="l" lvl="0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2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차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(B2B):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시설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안전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점검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업체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업무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효율화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및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데이터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표준화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</a:t>
            </a:r>
          </a:p>
          <a:p>
            <a:pPr algn="l" lvl="0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3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차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(B2G):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지자체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/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공공기관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노후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교량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및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시설물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점검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사업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</a:t>
            </a:r>
          </a:p>
          <a:p>
            <a:pPr algn="l" lvl="0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/>
            </a:r>
          </a:p>
          <a:p>
            <a:pPr algn="l" lvl="0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Market Size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시장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규모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분석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</a:t>
            </a:r>
          </a:p>
          <a:p>
            <a:pPr algn="l" lvl="0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	TAM / SAM / SOM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전략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구조</a:t>
            </a:r>
          </a:p>
          <a:p>
            <a:pPr algn="l" lvl="0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/>
            </a:r>
          </a:p>
          <a:p>
            <a:pPr algn="l" lvl="0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3500">
                <a:latin charset="0" typeface="PingFang SC"/>
                <a:ea charset="0" typeface="PingFang SC"/>
                <a:solidFill>
                  <a:srgbClr val="000000"/>
                </a:solidFill>
              </a:rPr>
              <a:t>비즈니스 모델 (Business Model)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4472" y="747149"/>
            <a:ext cx="8636445" cy="16827500"/>
          </a:xfrm>
          <a:prstGeom prst="rect">
            <a:avLst/>
          </a:prstGeom>
        </p:spPr>
        <p:txBody>
          <a:bodyPr/>
          <a:lstStyle/>
          <a:p>
            <a:pPr algn="l" lvl="1">
              <a:buNone/>
            </a:pPr>
            <a:r>
              <a:rPr altLang="en-US" lang="zh-CN" spc="0" sz="1600">
                <a:latin charset="0" typeface="Helvetica"/>
                <a:ea charset="0" typeface="Helvetica"/>
                <a:solidFill>
                  <a:srgbClr val="000000"/>
                </a:solidFill>
              </a:rPr>
              <a:t/>
            </a:r>
          </a:p>
          <a:p>
            <a:pPr algn="l" lvl="1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A. B2B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점검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서비스형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아파트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단지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대상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</a:t>
            </a:r>
          </a:p>
          <a:p>
            <a:pPr algn="l" lvl="1">
              <a:buNone/>
            </a:pP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핵심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단지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/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동별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드론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촬영부터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AI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분석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리포트까지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원스톱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제공</a:t>
            </a:r>
          </a:p>
          <a:p>
            <a:pPr algn="l" lvl="1">
              <a:buNone/>
            </a:pP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프로세스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외벽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전수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촬영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Color Emoji"/>
                <a:ea charset="0" typeface="Apple Color Emoji"/>
                <a:solidFill>
                  <a:srgbClr val="000000"/>
                </a:solidFill>
              </a:rPr>
              <a:t>➡️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AI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결함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분석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Color Emoji"/>
                <a:ea charset="0" typeface="Apple Color Emoji"/>
                <a:solidFill>
                  <a:srgbClr val="000000"/>
                </a:solidFill>
              </a:rPr>
              <a:t>➡️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위험도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분류</a:t>
            </a:r>
          </a:p>
          <a:p>
            <a:pPr algn="l" lvl="1">
              <a:buNone/>
            </a:pP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산출물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예시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(AI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분석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리포트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):</a:t>
            </a:r>
          </a:p>
          <a:p>
            <a:pPr algn="l" lvl="1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[A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동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12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층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동측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]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결함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Crack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균열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 |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신뢰도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92% |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위험도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High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위험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</a:t>
            </a:r>
          </a:p>
          <a:p>
            <a:pPr algn="l" lvl="1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[A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동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7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층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서측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]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결함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Spalling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박리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 |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신뢰도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81% |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위험도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Medium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주의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</a:t>
            </a:r>
          </a:p>
          <a:p>
            <a:pPr algn="l" lvl="1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/>
            </a:r>
          </a:p>
          <a:p>
            <a:pPr algn="l" lvl="1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B. B2B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구독형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SaaS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기존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점검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업체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대상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</a:t>
            </a:r>
          </a:p>
          <a:p>
            <a:pPr algn="l" lvl="1">
              <a:buNone/>
            </a:pP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핵심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점검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업체의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업무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효율을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높여주는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AI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분석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플랫폼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(APP)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사용권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판매</a:t>
            </a:r>
          </a:p>
          <a:p>
            <a:pPr algn="l" lvl="1">
              <a:buNone/>
            </a:pP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프로세스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점검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업체가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직접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촬영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업로드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Color Emoji"/>
                <a:ea charset="0" typeface="Apple Color Emoji"/>
                <a:solidFill>
                  <a:srgbClr val="000000"/>
                </a:solidFill>
              </a:rPr>
              <a:t>➡️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AI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분석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Color Emoji"/>
                <a:ea charset="0" typeface="Apple Color Emoji"/>
                <a:solidFill>
                  <a:srgbClr val="000000"/>
                </a:solidFill>
              </a:rPr>
              <a:t>➡️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기본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리포트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자동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생성</a:t>
            </a:r>
          </a:p>
          <a:p>
            <a:pPr algn="l" lvl="1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/>
            </a:r>
          </a:p>
          <a:p>
            <a:pPr algn="l" lvl="1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C. B2G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인프라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점검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확장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지자체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/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공공기관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</a:t>
            </a:r>
          </a:p>
          <a:p>
            <a:pPr algn="l" lvl="1">
              <a:buNone/>
            </a:pP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핵심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지자체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노후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건축물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및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시설물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안전점검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국책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사업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참여</a:t>
            </a:r>
          </a:p>
          <a:p>
            <a:pPr algn="l" lvl="1">
              <a:buNone/>
            </a:pP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확장성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아파트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외벽을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넘어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교량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,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터널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,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대형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플랜트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등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국가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인프라로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타겟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확대</a:t>
            </a:r>
          </a:p>
          <a:p>
            <a:pPr algn="l" lvl="1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/>
            </a:r>
          </a:p>
          <a:p>
            <a:pPr algn="l" lvl="1">
              <a:buNone/>
            </a:pPr>
            <a:r>
              <a:rPr altLang="en-US" lang="zh-CN" spc="0" sz="1600">
                <a:latin charset="0" typeface="Lucida Grande"/>
                <a:ea charset="0" typeface="Lucida Grande"/>
                <a:solidFill>
                  <a:srgbClr val="000000"/>
                </a:solidFill>
              </a:rPr>
              <a:t>■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단계별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예상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매출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(Pricing)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구조</a:t>
            </a:r>
          </a:p>
          <a:p>
            <a:pPr algn="l" lvl="1">
              <a:buNone/>
            </a:pP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①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단지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1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회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점검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초기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 200~600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만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원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Color Emoji"/>
                <a:ea charset="0" typeface="Apple Color Emoji"/>
                <a:solidFill>
                  <a:srgbClr val="000000"/>
                </a:solidFill>
              </a:rPr>
              <a:t>➡️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상용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 700~1,200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만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원</a:t>
            </a:r>
          </a:p>
          <a:p>
            <a:pPr algn="l" lvl="1">
              <a:buNone/>
            </a:pP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②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정기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점검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계약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초기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 500~900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만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원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/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년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Color Emoji"/>
                <a:ea charset="0" typeface="Apple Color Emoji"/>
                <a:solidFill>
                  <a:srgbClr val="000000"/>
                </a:solidFill>
              </a:rPr>
              <a:t>➡️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상용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 900~1,500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만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원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/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년</a:t>
            </a:r>
          </a:p>
          <a:p>
            <a:pPr algn="l" lvl="1">
              <a:buNone/>
            </a:pP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③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SaaS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구독권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초기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 50~200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만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원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/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월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Color Emoji"/>
                <a:ea charset="0" typeface="Apple Color Emoji"/>
                <a:solidFill>
                  <a:srgbClr val="000000"/>
                </a:solidFill>
              </a:rPr>
              <a:t>➡️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상용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 200~600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만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원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/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월</a:t>
            </a:r>
          </a:p>
          <a:p>
            <a:pPr algn="l" lvl="1">
              <a:buNone/>
            </a:pP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④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B2G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공공사업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: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초기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 2,000~5,000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만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원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Color Emoji"/>
                <a:ea charset="0" typeface="Apple Color Emoji"/>
                <a:solidFill>
                  <a:srgbClr val="000000"/>
                </a:solidFill>
              </a:rPr>
              <a:t>➡️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(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상용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) 7,000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만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원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~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수억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원</a:t>
            </a:r>
            <a:r>
              <a:rPr altLang="en-US" lang="zh-CN" spc="0" sz="1600">
                <a:latin charset="0" typeface="PingFang SC"/>
                <a:ea charset="0" typeface="PingFang SC"/>
                <a:solidFill>
                  <a:srgbClr val="000000"/>
                </a:solidFill>
              </a:rPr>
              <a:t> </a:t>
            </a:r>
            <a:r>
              <a:rPr altLang="en-US" lang="zh-CN" spc="0" sz="1600">
                <a:latin charset="0" typeface="Apple SD Gothic Neo"/>
                <a:ea charset="0" typeface="Apple SD Gothic Neo"/>
                <a:solidFill>
                  <a:srgbClr val="000000"/>
                </a:solidFill>
              </a:rPr>
              <a:t>이상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3500">
                <a:latin charset="0" typeface="PingFang SC"/>
                <a:ea charset="0" typeface="PingFang SC"/>
                <a:solidFill>
                  <a:srgbClr val="000000"/>
                </a:solidFill>
              </a:rPr>
              <a:t>핵심 비교 가치 (Value Proposition)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</a:p>
          <a:p>
            <a:pPr algn="l" lvl="0">
              <a:buNone/>
            </a:pPr>
            <a:r>
              <a:rPr altLang="en-US" lang="zh-CN" spc="0" sz="1700">
                <a:latin charset="0" typeface="PingFang SC"/>
                <a:ea charset="0" typeface="PingFang SC"/>
                <a:solidFill>
                  <a:srgbClr val="000000"/>
                </a:solidFill>
              </a:rPr>
              <a:t>강조 포인트: 비용을 줄이면서도 전수 조사와 안전을 동시에 확보!</a:t>
            </a:r>
          </a:p>
          <a:p>
            <a:pPr algn="l" lvl="0">
              <a:buNone/>
            </a:pPr>
            <a:r>
              <a:rPr altLang="en-US" lang="zh-CN" spc="0" sz="1700">
                <a:latin charset="0" typeface="PingFang SC"/>
                <a:ea charset="0" typeface="PingFang SC"/>
                <a:solidFill>
                  <a:srgbClr val="000000"/>
                </a:solidFill>
              </a:rPr>
              <a:t>[Table Data Below]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3500">
                <a:latin charset="0" typeface="PingFang SC"/>
                <a:ea charset="0" typeface="PingFang SC"/>
                <a:solidFill>
                  <a:srgbClr val="000000"/>
                </a:solidFill>
              </a:rPr>
              <a:t>리스크 및 대응 (Risk Management)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7199" y="1417638"/>
            <a:ext cx="8229600" cy="3763963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</a:p>
          <a:p>
            <a:pPr algn="l" lvl="0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핵심 리스크: 개인정보(사생활) 보호 이슈</a:t>
            </a:r>
          </a:p>
          <a:p>
            <a:pPr algn="l" lvl="0">
              <a:buNone/>
            </a:pPr>
          </a:p>
          <a:p>
            <a:pPr algn="l" lvl="0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드론을 이용한 주거지역 촬영 시 창문 내부 등 사생활 침해 가능성 및 법적 제약</a:t>
            </a:r>
          </a:p>
          <a:p>
            <a:pPr algn="l" lvl="0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해결 방안: 실시간 자동 비식별화 (Privacy Masking)</a:t>
            </a:r>
          </a:p>
          <a:p>
            <a:pPr algn="l" lvl="0">
              <a:buNone/>
            </a:pPr>
          </a:p>
          <a:p>
            <a:pPr algn="l" lvl="0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국제 표준(TÜV SÜD 등)을 참고하여, AI가 사람이나 창문 내부 영역을 감지하는 즉시 자동으로 블러(마스킹) 처리하여 개인정보보호법 위반 리스크를 원천 차단합니다.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</Application>
  <PresentationFormat>宽屏</PresentationFormat>
  <Slides>7</Slides>
  <Notes>0</Notes>
  <HiddenSlides>0</HiddenSlides>
  <ScaleCrop>false</ScaleCrop>
  <HeadingPairs>
    <vt:vector baseType="variant" size="8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baseType="lpstr" size="8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标题</dc:title>
  <dc:creator>PPT</dc:creator>
  <cp:lastModifiedBy>PPT</cp:lastModifiedBy>
  <cp:revision>1</cp:revision>
  <dcterms:created xsi:type="dcterms:W3CDTF">2026-02-24T03:06:14Z</dcterms:created>
  <dcterms:modified xsi:type="dcterms:W3CDTF">2026-02-24T03:06:14Z</dcterms:modified>
</cp:coreProperties>
</file>